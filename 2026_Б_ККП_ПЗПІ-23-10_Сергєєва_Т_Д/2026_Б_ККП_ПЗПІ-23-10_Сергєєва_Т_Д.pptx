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71" r:id="rId12"/>
    <p:sldId id="265" r:id="rId13"/>
    <p:sldId id="269" r:id="rId14"/>
    <p:sldId id="267" r:id="rId15"/>
  </p:sldIdLst>
  <p:sldSz cx="9144000" cy="5143500" type="screen16x9"/>
  <p:notesSz cx="6858000" cy="9144000"/>
  <p:embeddedFontLs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61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31BCA8B-CD26-08A7-E041-49F9C02B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AE9891FD-5E41-0B68-4C90-30D8786B6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09ADECA3-699E-7962-6833-C9995FFFD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250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D5350D9-F294-4F9D-E982-F2ED109D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9E792432-AFBD-C6AD-1DB1-F39E324DD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2D492F8C-ECB2-DC2A-9CBD-213BB4A40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430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1826" y="786923"/>
            <a:ext cx="3540348" cy="16056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Ігрове програмне забезпечення в жанрі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Survival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рушії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Unreal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оформлення</a:t>
            </a: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466987" y="3683252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Сергєєва Таїсія Дмитрівна ПЗПІ-23-10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ст.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викл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кафедри ПІ Юрій Новіков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червня 2025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94596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роботи є розробка систем поведінки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NPC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Tree,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 та формування єдиного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візуального стилю для ігрового програмного застосунку в жанрі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рушії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 Engine 5.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роботи полягає у необхідності створення ефективних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систем, зручного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 та цілісного візуального стилю для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Survival-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ігор. Сучасні ігрові проєкти потребують якісної взаємодії користувача з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NPC,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зрозумілого інтерфейсу та атмосферної піксельної графіки, що забезпечують комфортний ігровий процес та підвищують зацікавленість гравця.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71D8D556-9172-C6D2-FDD3-D23C1EEF7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45294"/>
              </p:ext>
            </p:extLst>
          </p:nvPr>
        </p:nvGraphicFramePr>
        <p:xfrm>
          <a:off x="611892" y="706437"/>
          <a:ext cx="7810212" cy="321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677">
                  <a:extLst>
                    <a:ext uri="{9D8B030D-6E8A-4147-A177-3AD203B41FA5}">
                      <a16:colId xmlns:a16="http://schemas.microsoft.com/office/drawing/2014/main" val="116867936"/>
                    </a:ext>
                  </a:extLst>
                </a:gridCol>
                <a:gridCol w="1954845">
                  <a:extLst>
                    <a:ext uri="{9D8B030D-6E8A-4147-A177-3AD203B41FA5}">
                      <a16:colId xmlns:a16="http://schemas.microsoft.com/office/drawing/2014/main" val="2137697426"/>
                    </a:ext>
                  </a:extLst>
                </a:gridCol>
                <a:gridCol w="1954845">
                  <a:extLst>
                    <a:ext uri="{9D8B030D-6E8A-4147-A177-3AD203B41FA5}">
                      <a16:colId xmlns:a16="http://schemas.microsoft.com/office/drawing/2014/main" val="944487055"/>
                    </a:ext>
                  </a:extLst>
                </a:gridCol>
                <a:gridCol w="1954845">
                  <a:extLst>
                    <a:ext uri="{9D8B030D-6E8A-4147-A177-3AD203B41FA5}">
                      <a16:colId xmlns:a16="http://schemas.microsoft.com/office/drawing/2014/main" val="374511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 гри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Основні особливості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Виявлені недоліки та прогалини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23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</a:t>
                      </a:r>
                      <a:r>
                        <a:rPr lang="en-US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Zomboid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AI на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основі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реагування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шум та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візуальний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контакт,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мінімалістичний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UI, атмосфера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постапокаліпсису</a:t>
                      </a:r>
                      <a:endParaRPr lang="ru-RU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Стабільна поведінка великої кількості 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NPC, </a:t>
                      </a: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висока атмосферність, зручний інтерфейс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Обмежена різноманітність поведінки NPC, повторюваність сценаріїв, недостатньо складна система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8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Don’t Starve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Стилізована 2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D-</a:t>
                      </a: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графіка,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Survival-</a:t>
                      </a: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механіки, проста поведінка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NPC, </a:t>
                      </a: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атмосферний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Впізнаваний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художній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стиль,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логічна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поведінка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істот</a:t>
                      </a:r>
                      <a:r>
                        <a:rPr lang="ru-RU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хороша атмосфера </a:t>
                      </a:r>
                      <a:r>
                        <a:rPr lang="ru-RU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виживання</a:t>
                      </a:r>
                      <a:endParaRPr lang="ru-RU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Невисока складність 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</a:t>
                      </a: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недостатня інформативність інтерфейсу для нових користувачів, складність адаптації гравців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70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Terraria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Великий процедурний світ, біоми, NPC із залежністю від середовища, насичений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Висока реіграбельність, різноманітність контенту, багатофункціональний інтерфейс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Перевантаженість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UI, </a:t>
                      </a:r>
                      <a:r>
                        <a:rPr lang="uk-UA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хаотичність великої кількості механік, надлишок візуальних елементів у пізній грі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2501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Основною проблемою під час розробки 2</a:t>
            </a:r>
            <a:r>
              <a:rPr lang="en-US" dirty="0">
                <a:highlight>
                  <a:srgbClr val="FFFFFF"/>
                </a:highlight>
              </a:rPr>
              <a:t>D Survival-</a:t>
            </a:r>
            <a:r>
              <a:rPr lang="uk-UA" dirty="0">
                <a:highlight>
                  <a:srgbClr val="FFFFFF"/>
                </a:highlight>
              </a:rPr>
              <a:t>гри є забезпечення узгодженої роботи </a:t>
            </a:r>
            <a:r>
              <a:rPr lang="en-US" dirty="0">
                <a:highlight>
                  <a:srgbClr val="FFFFFF"/>
                </a:highlight>
              </a:rPr>
              <a:t>AI-</a:t>
            </a:r>
            <a:r>
              <a:rPr lang="uk-UA" dirty="0">
                <a:highlight>
                  <a:srgbClr val="FFFFFF"/>
                </a:highlight>
              </a:rPr>
              <a:t>систем, </a:t>
            </a:r>
            <a:r>
              <a:rPr lang="en-US" dirty="0">
                <a:highlight>
                  <a:srgbClr val="FFFFFF"/>
                </a:highlight>
              </a:rPr>
              <a:t>UI/UX </a:t>
            </a:r>
            <a:r>
              <a:rPr lang="uk-UA" dirty="0">
                <a:highlight>
                  <a:srgbClr val="FFFFFF"/>
                </a:highlight>
              </a:rPr>
              <a:t>інтерфейсу та візуального стилю гри. Недостатньо продумана поведінка </a:t>
            </a:r>
            <a:r>
              <a:rPr lang="en-US" dirty="0">
                <a:highlight>
                  <a:srgbClr val="FFFFFF"/>
                </a:highlight>
              </a:rPr>
              <a:t>NPC, </a:t>
            </a:r>
            <a:r>
              <a:rPr lang="uk-UA" dirty="0">
                <a:highlight>
                  <a:srgbClr val="FFFFFF"/>
                </a:highlight>
              </a:rPr>
              <a:t>перевантажений інтерфейс або неузгоджене графічне оформлення можуть негативно впливати на зручність взаємодії користувача з грою та знижувати рівень занурення в ігровий процес.</a:t>
            </a:r>
          </a:p>
          <a:p>
            <a:pPr marL="114300" indent="0">
              <a:buNone/>
            </a:pPr>
            <a:endParaRPr lang="uk-UA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У результаті виконання роботи очікується створення системи поведінки </a:t>
            </a:r>
            <a:r>
              <a:rPr lang="en-US" dirty="0">
                <a:highlight>
                  <a:srgbClr val="FFFFFF"/>
                </a:highlight>
              </a:rPr>
              <a:t>NPC </a:t>
            </a:r>
            <a:r>
              <a:rPr lang="uk-UA" dirty="0">
                <a:highlight>
                  <a:srgbClr val="FFFFFF"/>
                </a:highlight>
              </a:rPr>
              <a:t>з логічними переходами між станами, зручного </a:t>
            </a:r>
            <a:r>
              <a:rPr lang="en-US" dirty="0">
                <a:highlight>
                  <a:srgbClr val="FFFFFF"/>
                </a:highlight>
              </a:rPr>
              <a:t>UI/UX </a:t>
            </a:r>
            <a:r>
              <a:rPr lang="uk-UA" dirty="0">
                <a:highlight>
                  <a:srgbClr val="FFFFFF"/>
                </a:highlight>
              </a:rPr>
              <a:t>інтерфейсу для взаємодії користувача з ігровими механіками та єдиного 2</a:t>
            </a:r>
            <a:r>
              <a:rPr lang="en-US" dirty="0">
                <a:highlight>
                  <a:srgbClr val="FFFFFF"/>
                </a:highlight>
              </a:rPr>
              <a:t>D-</a:t>
            </a:r>
            <a:r>
              <a:rPr lang="uk-UA" dirty="0">
                <a:highlight>
                  <a:srgbClr val="FFFFFF"/>
                </a:highlight>
              </a:rPr>
              <a:t>візуального стилю на основі піксельної графіки, що забезпечить цілісність і комфортність ігрового процесу.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99666" y="84424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Для розробки гри використовувався ігровий рушій </a:t>
            </a:r>
            <a:r>
              <a:rPr lang="en-US" dirty="0">
                <a:highlight>
                  <a:srgbClr val="FFFFFF"/>
                </a:highlight>
              </a:rPr>
              <a:t>Unreal Engine 5.3 </a:t>
            </a:r>
            <a:r>
              <a:rPr lang="uk-UA" dirty="0">
                <a:highlight>
                  <a:srgbClr val="FFFFFF"/>
                </a:highlight>
              </a:rPr>
              <a:t>та система </a:t>
            </a:r>
            <a:r>
              <a:rPr lang="en-US" dirty="0">
                <a:highlight>
                  <a:srgbClr val="FFFFFF"/>
                </a:highlight>
              </a:rPr>
              <a:t>Blueprint </a:t>
            </a:r>
            <a:r>
              <a:rPr lang="uk-UA" dirty="0">
                <a:highlight>
                  <a:srgbClr val="FFFFFF"/>
                </a:highlight>
              </a:rPr>
              <a:t>для створення ігрової логіки, </a:t>
            </a:r>
            <a:r>
              <a:rPr lang="en-US" dirty="0">
                <a:highlight>
                  <a:srgbClr val="FFFFFF"/>
                </a:highlight>
              </a:rPr>
              <a:t>AI </a:t>
            </a:r>
            <a:r>
              <a:rPr lang="uk-UA" dirty="0">
                <a:highlight>
                  <a:srgbClr val="FFFFFF"/>
                </a:highlight>
              </a:rPr>
              <a:t>поведінки </a:t>
            </a:r>
            <a:r>
              <a:rPr lang="en-US" dirty="0">
                <a:highlight>
                  <a:srgbClr val="FFFFFF"/>
                </a:highlight>
              </a:rPr>
              <a:t>NPC, UI/UX </a:t>
            </a:r>
            <a:r>
              <a:rPr lang="uk-UA" dirty="0">
                <a:highlight>
                  <a:srgbClr val="FFFFFF"/>
                </a:highlight>
              </a:rPr>
              <a:t>інтерфейсу й взаємодії між системами гри. Для реалізації інтерфейсу застосовувався </a:t>
            </a:r>
            <a:r>
              <a:rPr lang="en-US" dirty="0">
                <a:highlight>
                  <a:srgbClr val="FFFFFF"/>
                </a:highlight>
              </a:rPr>
              <a:t>Figma.</a:t>
            </a:r>
          </a:p>
          <a:p>
            <a:pPr marL="114300" indent="0">
              <a:buNone/>
            </a:pPr>
            <a:endParaRPr lang="en-US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Створення піксельної 2</a:t>
            </a:r>
            <a:r>
              <a:rPr lang="en-US" dirty="0">
                <a:highlight>
                  <a:srgbClr val="FFFFFF"/>
                </a:highlight>
              </a:rPr>
              <a:t>D-</a:t>
            </a:r>
            <a:r>
              <a:rPr lang="uk-UA" dirty="0">
                <a:highlight>
                  <a:srgbClr val="FFFFFF"/>
                </a:highlight>
              </a:rPr>
              <a:t>графіки, </a:t>
            </a:r>
            <a:r>
              <a:rPr lang="en-US" dirty="0">
                <a:highlight>
                  <a:srgbClr val="FFFFFF"/>
                </a:highlight>
              </a:rPr>
              <a:t>UI-</a:t>
            </a:r>
            <a:r>
              <a:rPr lang="uk-UA" dirty="0">
                <a:highlight>
                  <a:srgbClr val="FFFFFF"/>
                </a:highlight>
              </a:rPr>
              <a:t>елементів та </a:t>
            </a:r>
            <a:r>
              <a:rPr lang="uk-UA" dirty="0" err="1">
                <a:highlight>
                  <a:srgbClr val="FFFFFF"/>
                </a:highlight>
              </a:rPr>
              <a:t>спрайтів</a:t>
            </a:r>
            <a:r>
              <a:rPr lang="uk-UA" dirty="0">
                <a:highlight>
                  <a:srgbClr val="FFFFFF"/>
                </a:highlight>
              </a:rPr>
              <a:t> виконувалось у графічному редакторі </a:t>
            </a:r>
            <a:r>
              <a:rPr lang="en-US" dirty="0" err="1">
                <a:highlight>
                  <a:srgbClr val="FFFFFF"/>
                </a:highlight>
              </a:rPr>
              <a:t>Aseprite</a:t>
            </a:r>
            <a:r>
              <a:rPr lang="en-US" dirty="0">
                <a:highlight>
                  <a:srgbClr val="FFFFFF"/>
                </a:highlight>
              </a:rPr>
              <a:t>. </a:t>
            </a:r>
            <a:r>
              <a:rPr lang="uk-UA" dirty="0">
                <a:highlight>
                  <a:srgbClr val="FFFFFF"/>
                </a:highlight>
              </a:rPr>
              <a:t>Частина </a:t>
            </a:r>
            <a:r>
              <a:rPr lang="uk-UA" dirty="0" err="1">
                <a:highlight>
                  <a:srgbClr val="FFFFFF"/>
                </a:highlight>
              </a:rPr>
              <a:t>спрайтів</a:t>
            </a:r>
            <a:r>
              <a:rPr lang="uk-UA" dirty="0">
                <a:highlight>
                  <a:srgbClr val="FFFFFF"/>
                </a:highlight>
              </a:rPr>
              <a:t> також була взята з платформи </a:t>
            </a:r>
            <a:r>
              <a:rPr lang="en-US" dirty="0">
                <a:highlight>
                  <a:srgbClr val="FFFFFF"/>
                </a:highlight>
              </a:rPr>
              <a:t>itch.io </a:t>
            </a:r>
            <a:r>
              <a:rPr lang="uk-UA" dirty="0">
                <a:highlight>
                  <a:srgbClr val="FFFFFF"/>
                </a:highlight>
              </a:rPr>
              <a:t>та адаптована під стиль проєкту.</a:t>
            </a:r>
          </a:p>
          <a:p>
            <a:pPr marL="114300" indent="0">
              <a:buNone/>
            </a:pPr>
            <a:endParaRPr lang="uk-UA" dirty="0">
              <a:highlight>
                <a:srgbClr val="FFFFFF"/>
              </a:highlight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EF223F-CD15-2221-E8B0-F5FB58F8AB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23" y="711082"/>
            <a:ext cx="3320891" cy="408275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C1D53D-3B5C-20B7-B490-8D68D70FF11E}"/>
              </a:ext>
            </a:extLst>
          </p:cNvPr>
          <p:cNvSpPr txBox="1"/>
          <p:nvPr/>
        </p:nvSpPr>
        <p:spPr>
          <a:xfrm>
            <a:off x="610673" y="1495873"/>
            <a:ext cx="41469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відображає структуру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архітектири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логіку переходів між основними екранами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Survival-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гри: головним меню, паузою,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HUD,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інвентарем,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крафтом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системами взаємодії зі світом. Вона демонструє зв’язок між ігровими механіками та інтерфейсом користувача.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A41D18A-2E34-B736-CBF1-2AA390F0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B431CF1E-E9C2-AC06-FB8D-3C82C9E6C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167527E6-15F2-82E1-9866-9AFDB6D997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A1DB09-5D3A-4C8F-1953-4CD6687D6DB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D1A9C3-1C42-73B8-36F3-A705996999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284" y="1010131"/>
            <a:ext cx="5398079" cy="35201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4C1EB1-1828-1553-AD24-FC85959C0C7C}"/>
              </a:ext>
            </a:extLst>
          </p:cNvPr>
          <p:cNvSpPr txBox="1"/>
          <p:nvPr/>
        </p:nvSpPr>
        <p:spPr>
          <a:xfrm>
            <a:off x="200173" y="1180959"/>
            <a:ext cx="27905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показує систему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NPC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Tree.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Агресивні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моби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переходять між станами патрулювання, погоні та бою залежно від дистанції до гравця, а пасивні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NPC —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між спокійним станом і втечею. Перемикання станів відбувається через перевірку зон виявлення та атаки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DetectRange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AttackRange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42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43700"/>
            <a:ext cx="8520600" cy="32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Під час розробки ігрового програмного застосунку використовувався </a:t>
            </a:r>
            <a:r>
              <a:rPr lang="en-US" dirty="0">
                <a:highlight>
                  <a:srgbClr val="FFFFFF"/>
                </a:highlight>
              </a:rPr>
              <a:t>Unreal Engine 5.3</a:t>
            </a:r>
            <a:r>
              <a:rPr lang="uk-UA" dirty="0">
                <a:highlight>
                  <a:srgbClr val="FFFFFF"/>
                </a:highlight>
              </a:rPr>
              <a:t>. Для реалізації ігрової логіки, </a:t>
            </a:r>
            <a:r>
              <a:rPr lang="en-US" dirty="0">
                <a:highlight>
                  <a:srgbClr val="FFFFFF"/>
                </a:highlight>
              </a:rPr>
              <a:t>AI-</a:t>
            </a:r>
            <a:r>
              <a:rPr lang="uk-UA" dirty="0">
                <a:highlight>
                  <a:srgbClr val="FFFFFF"/>
                </a:highlight>
              </a:rPr>
              <a:t>систем та інтерфейсу застосовувалася </a:t>
            </a:r>
            <a:r>
              <a:rPr lang="en-US" dirty="0">
                <a:highlight>
                  <a:srgbClr val="FFFFFF"/>
                </a:highlight>
              </a:rPr>
              <a:t>Blueprint System. </a:t>
            </a:r>
            <a:r>
              <a:rPr lang="uk-UA" dirty="0">
                <a:highlight>
                  <a:srgbClr val="FFFFFF"/>
                </a:highlight>
              </a:rPr>
              <a:t>Створення </a:t>
            </a:r>
            <a:r>
              <a:rPr lang="en-US" dirty="0">
                <a:highlight>
                  <a:srgbClr val="FFFFFF"/>
                </a:highlight>
              </a:rPr>
              <a:t>UI/UX </a:t>
            </a:r>
            <a:r>
              <a:rPr lang="uk-UA" dirty="0">
                <a:highlight>
                  <a:srgbClr val="FFFFFF"/>
                </a:highlight>
              </a:rPr>
              <a:t>елементів і піксельної графіки виконувалось у редакторі </a:t>
            </a:r>
            <a:r>
              <a:rPr lang="en-US" dirty="0" err="1">
                <a:highlight>
                  <a:srgbClr val="FFFFFF"/>
                </a:highlight>
              </a:rPr>
              <a:t>Aseprite</a:t>
            </a:r>
            <a:r>
              <a:rPr lang="en-US" dirty="0">
                <a:highlight>
                  <a:srgbClr val="FFFFFF"/>
                </a:highlight>
              </a:rPr>
              <a:t>. </a:t>
            </a:r>
            <a:r>
              <a:rPr lang="uk-UA" dirty="0">
                <a:highlight>
                  <a:srgbClr val="FFFFFF"/>
                </a:highlight>
              </a:rPr>
              <a:t>Частина графічних ресурсів була отримана з платформи </a:t>
            </a:r>
            <a:r>
              <a:rPr lang="en-US" dirty="0">
                <a:highlight>
                  <a:srgbClr val="FFFFFF"/>
                </a:highlight>
              </a:rPr>
              <a:t>itch.io.</a:t>
            </a:r>
          </a:p>
          <a:p>
            <a:pPr marL="114300" indent="0">
              <a:buNone/>
            </a:pPr>
            <a:endParaRPr lang="uk-UA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</a:rPr>
              <a:t>Процес розробки включав проєктування </a:t>
            </a:r>
            <a:r>
              <a:rPr lang="en-US" dirty="0">
                <a:highlight>
                  <a:srgbClr val="FFFFFF"/>
                </a:highlight>
              </a:rPr>
              <a:t>AI-</a:t>
            </a:r>
            <a:r>
              <a:rPr lang="uk-UA" dirty="0">
                <a:highlight>
                  <a:srgbClr val="FFFFFF"/>
                </a:highlight>
              </a:rPr>
              <a:t>систем, створення </a:t>
            </a:r>
            <a:r>
              <a:rPr lang="en-US" dirty="0">
                <a:highlight>
                  <a:srgbClr val="FFFFFF"/>
                </a:highlight>
              </a:rPr>
              <a:t>UI/UX </a:t>
            </a:r>
            <a:r>
              <a:rPr lang="uk-UA" dirty="0">
                <a:highlight>
                  <a:srgbClr val="FFFFFF"/>
                </a:highlight>
              </a:rPr>
              <a:t>інтерфейсу, налаштування поведінки </a:t>
            </a:r>
            <a:r>
              <a:rPr lang="en-US" dirty="0">
                <a:highlight>
                  <a:srgbClr val="FFFFFF"/>
                </a:highlight>
              </a:rPr>
              <a:t>NPC </a:t>
            </a:r>
            <a:r>
              <a:rPr lang="uk-UA" dirty="0">
                <a:highlight>
                  <a:srgbClr val="FFFFFF"/>
                </a:highlight>
              </a:rPr>
              <a:t>та розробку 2</a:t>
            </a:r>
            <a:r>
              <a:rPr lang="en-US" dirty="0">
                <a:highlight>
                  <a:srgbClr val="FFFFFF"/>
                </a:highlight>
              </a:rPr>
              <a:t>D-</a:t>
            </a:r>
            <a:r>
              <a:rPr lang="uk-UA" dirty="0">
                <a:highlight>
                  <a:srgbClr val="FFFFFF"/>
                </a:highlight>
              </a:rPr>
              <a:t>графіки для </a:t>
            </a:r>
            <a:r>
              <a:rPr lang="en-US" dirty="0">
                <a:highlight>
                  <a:srgbClr val="FFFFFF"/>
                </a:highlight>
              </a:rPr>
              <a:t>Survival-</a:t>
            </a:r>
            <a:r>
              <a:rPr lang="uk-UA" dirty="0">
                <a:highlight>
                  <a:srgbClr val="FFFFFF"/>
                </a:highlight>
              </a:rPr>
              <a:t>гри. Основним інструментом реалізації стала </a:t>
            </a:r>
            <a:r>
              <a:rPr lang="en-US" dirty="0">
                <a:highlight>
                  <a:srgbClr val="FFFFFF"/>
                </a:highlight>
              </a:rPr>
              <a:t>Blueprint System </a:t>
            </a:r>
            <a:r>
              <a:rPr lang="uk-UA" dirty="0">
                <a:highlight>
                  <a:srgbClr val="FFFFFF"/>
                </a:highlight>
              </a:rPr>
              <a:t>в </a:t>
            </a:r>
            <a:r>
              <a:rPr lang="en-US" dirty="0">
                <a:highlight>
                  <a:srgbClr val="FFFFFF"/>
                </a:highlight>
              </a:rPr>
              <a:t>Unreal Engine 5.3. 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058779"/>
            <a:ext cx="8520600" cy="352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" dirty="0"/>
              <a:t>Методи: </a:t>
            </a:r>
            <a:r>
              <a:rPr lang="uk-UA" dirty="0"/>
              <a:t>аналіз аналогів </a:t>
            </a:r>
            <a:r>
              <a:rPr lang="en-US" dirty="0"/>
              <a:t>Survival-</a:t>
            </a:r>
            <a:r>
              <a:rPr lang="uk-UA" dirty="0"/>
              <a:t>ігор; проєктування </a:t>
            </a:r>
            <a:r>
              <a:rPr lang="en-US" dirty="0"/>
              <a:t>AI </a:t>
            </a:r>
            <a:r>
              <a:rPr lang="uk-UA" dirty="0"/>
              <a:t>та </a:t>
            </a:r>
            <a:r>
              <a:rPr lang="en-US" dirty="0"/>
              <a:t>UI/UX </a:t>
            </a:r>
            <a:r>
              <a:rPr lang="uk-UA" dirty="0"/>
              <a:t>систем; модульна побудова ігрових механік; </a:t>
            </a:r>
            <a:endParaRPr dirty="0">
              <a:latin typeface="Economica" panose="020B0604020202020204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uk" dirty="0"/>
              <a:t>Послідовність: </a:t>
            </a:r>
            <a:r>
              <a:rPr lang="uk-UA" dirty="0"/>
              <a:t>аналіз предметної галузі; проєктування архітектури систем; створення </a:t>
            </a:r>
            <a:r>
              <a:rPr lang="en-US" dirty="0"/>
              <a:t>AI, UI/UX </a:t>
            </a:r>
            <a:r>
              <a:rPr lang="uk-UA" dirty="0"/>
              <a:t>та 2</a:t>
            </a:r>
            <a:r>
              <a:rPr lang="en-US" dirty="0"/>
              <a:t>D-</a:t>
            </a:r>
            <a:r>
              <a:rPr lang="uk-UA" dirty="0"/>
              <a:t>графіки; інтеграція механік.</a:t>
            </a:r>
            <a:endParaRPr lang="uk" dirty="0"/>
          </a:p>
          <a:p>
            <a:pPr marL="0" lvl="0" indent="0">
              <a:spcBef>
                <a:spcPts val="1200"/>
              </a:spcBef>
              <a:buNone/>
            </a:pPr>
            <a:r>
              <a:rPr lang="uk" dirty="0"/>
              <a:t>Технології: </a:t>
            </a:r>
            <a:r>
              <a:rPr lang="en-US" dirty="0"/>
              <a:t>Unreal Engine 5.3; Blueprint System; State Tree; UMG (Unreal Motion Graphics); </a:t>
            </a:r>
            <a:r>
              <a:rPr lang="en-US" dirty="0" err="1"/>
              <a:t>Aseprite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DBA6C-3DB8-90C2-C812-7C4E93FC617B}"/>
              </a:ext>
            </a:extLst>
          </p:cNvPr>
          <p:cNvSpPr txBox="1"/>
          <p:nvPr/>
        </p:nvSpPr>
        <p:spPr>
          <a:xfrm>
            <a:off x="754552" y="678302"/>
            <a:ext cx="4589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ru-RU" dirty="0"/>
              <a:t>Реал</a:t>
            </a:r>
            <a:r>
              <a:rPr lang="uk-UA" dirty="0" err="1"/>
              <a:t>ізація</a:t>
            </a:r>
            <a:r>
              <a:rPr lang="uk-UA" dirty="0"/>
              <a:t> </a:t>
            </a:r>
            <a:r>
              <a:rPr lang="en-US" dirty="0"/>
              <a:t>UI </a:t>
            </a:r>
            <a:r>
              <a:rPr lang="uk-UA" dirty="0"/>
              <a:t>крафт-столу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524BB0-053D-9AD0-17DC-7C66A8091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918" y="229374"/>
            <a:ext cx="4258269" cy="24115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DEC1C4-229D-F14E-99DC-9D8EE8F95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827" y="2707275"/>
            <a:ext cx="7944360" cy="1899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D80FF01-C18B-931A-5256-C71517E6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14ABF1E-E7CE-9BC8-46F8-8AE3A4E03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FEBEEEE7-3867-527B-ADF6-18020E23A7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CA9128-C0CE-6EEE-4D18-671F8C9D1AE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5E3EA2-280B-036A-9D6A-5636CD1A7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786" y="2093721"/>
            <a:ext cx="6668576" cy="26665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6C539C-5016-41E5-3506-545932EB1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627" y="81464"/>
            <a:ext cx="2909735" cy="1950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12A121-2046-70CA-2748-ADB0E588C2F9}"/>
              </a:ext>
            </a:extLst>
          </p:cNvPr>
          <p:cNvSpPr txBox="1"/>
          <p:nvPr/>
        </p:nvSpPr>
        <p:spPr>
          <a:xfrm>
            <a:off x="700050" y="822388"/>
            <a:ext cx="4589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uk-UA" dirty="0"/>
              <a:t>Реалізація </a:t>
            </a:r>
            <a:r>
              <a:rPr lang="en-US" dirty="0"/>
              <a:t>HUD</a:t>
            </a:r>
            <a:r>
              <a:rPr lang="uk-UA" dirty="0"/>
              <a:t> характеристик гравця та статус ефектів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146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55CF0C-225F-58E7-57F1-51A2F5C4D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175" y="687680"/>
            <a:ext cx="3476347" cy="17721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0FE037A-E2A8-FF5E-70F7-5B1001112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023" y="687680"/>
            <a:ext cx="3476348" cy="17873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BE4D9F8-9BEB-256B-0BDD-1E125D2F5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155" y="2587323"/>
            <a:ext cx="3505368" cy="17721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D55785-AE0C-882E-7D70-EF0C1F6BC0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023" y="2587323"/>
            <a:ext cx="3413326" cy="17841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706426-9E1D-38DD-7BFA-C214B4806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910" y="635695"/>
            <a:ext cx="2829609" cy="39706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86923C-747C-58AA-6C88-BDF2CB995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519" y="635695"/>
            <a:ext cx="2979925" cy="40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453726" y="875643"/>
            <a:ext cx="8466540" cy="3651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uk-UA" dirty="0"/>
              <a:t>У результаті роботи було реалізовано систему поведінки </a:t>
            </a:r>
            <a:r>
              <a:rPr lang="en-US" dirty="0"/>
              <a:t>NPC, UI/UX </a:t>
            </a:r>
            <a:r>
              <a:rPr lang="uk-UA" dirty="0"/>
              <a:t>інтерфейс та набір 2</a:t>
            </a:r>
            <a:r>
              <a:rPr lang="en-US" dirty="0"/>
              <a:t>D-</a:t>
            </a:r>
            <a:r>
              <a:rPr lang="uk-UA" dirty="0"/>
              <a:t>графічних елементів для </a:t>
            </a:r>
            <a:r>
              <a:rPr lang="en-US" dirty="0"/>
              <a:t>Survival-</a:t>
            </a:r>
            <a:r>
              <a:rPr lang="uk-UA" dirty="0"/>
              <a:t>гри. Отримані результати є практично придатними для використання у 2</a:t>
            </a:r>
            <a:r>
              <a:rPr lang="en-US" dirty="0"/>
              <a:t>D </a:t>
            </a:r>
            <a:r>
              <a:rPr lang="uk-UA" dirty="0"/>
              <a:t>ігрових проєктах та забезпечують стабільну взаємодію між ігровими системами, інтерфейсом і користувачем.</a:t>
            </a:r>
          </a:p>
          <a:p>
            <a:pPr marL="0" lvl="0" indent="0">
              <a:lnSpc>
                <a:spcPct val="150000"/>
              </a:lnSpc>
              <a:buNone/>
            </a:pPr>
            <a:endParaRPr lang="uk-UA" dirty="0">
              <a:latin typeface="Economica" panose="020B060402020202020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uk-UA" dirty="0"/>
              <a:t>Розроблені системи можуть бути використані як основа для створення </a:t>
            </a:r>
            <a:r>
              <a:rPr lang="en-US" dirty="0"/>
              <a:t>Survival-</a:t>
            </a:r>
            <a:r>
              <a:rPr lang="uk-UA" dirty="0"/>
              <a:t>ігор, 2</a:t>
            </a:r>
            <a:r>
              <a:rPr lang="en-US" dirty="0"/>
              <a:t>D RPG </a:t>
            </a:r>
            <a:r>
              <a:rPr lang="uk-UA" dirty="0"/>
              <a:t>або інших проєктів із використанням </a:t>
            </a:r>
            <a:r>
              <a:rPr lang="en-US" dirty="0"/>
              <a:t>AI </a:t>
            </a:r>
            <a:r>
              <a:rPr lang="uk-UA" dirty="0"/>
              <a:t>поведінки </a:t>
            </a:r>
            <a:r>
              <a:rPr lang="en-US" dirty="0"/>
              <a:t>NPC, </a:t>
            </a:r>
            <a:r>
              <a:rPr lang="uk-UA" dirty="0"/>
              <a:t>піксельної графіки та </a:t>
            </a:r>
            <a:r>
              <a:rPr lang="en-US" dirty="0"/>
              <a:t>UI/UX </a:t>
            </a:r>
            <a:r>
              <a:rPr lang="uk-UA" dirty="0"/>
              <a:t>інтерфейсів на </a:t>
            </a:r>
            <a:r>
              <a:rPr lang="en-US" dirty="0"/>
              <a:t>Unreal Engine 5.3.</a:t>
            </a:r>
            <a:endParaRPr lang="uk-UA" dirty="0"/>
          </a:p>
          <a:p>
            <a:pPr marL="0" lvl="0" indent="0">
              <a:lnSpc>
                <a:spcPct val="150000"/>
              </a:lnSpc>
              <a:buNone/>
            </a:pPr>
            <a:endParaRPr lang="uk-UA" dirty="0">
              <a:latin typeface="Economica" panose="020B060402020202020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uk-UA" dirty="0"/>
              <a:t>Подальший розвиток проєкту може включати розширення </a:t>
            </a:r>
            <a:r>
              <a:rPr lang="en-US" dirty="0"/>
              <a:t>AI-</a:t>
            </a:r>
            <a:r>
              <a:rPr lang="uk-UA" dirty="0"/>
              <a:t>систем, додавання нових типів поведінки </a:t>
            </a:r>
            <a:r>
              <a:rPr lang="en-US" dirty="0"/>
              <a:t>NPC, </a:t>
            </a:r>
            <a:r>
              <a:rPr lang="uk-UA" dirty="0"/>
              <a:t>покращення </a:t>
            </a:r>
            <a:r>
              <a:rPr lang="en-US" dirty="0"/>
              <a:t>UI/UX </a:t>
            </a:r>
            <a:r>
              <a:rPr lang="uk-UA" dirty="0"/>
              <a:t>інтерфейсу, розширення 2</a:t>
            </a:r>
            <a:r>
              <a:rPr lang="en-US" dirty="0"/>
              <a:t>D-</a:t>
            </a:r>
            <a:r>
              <a:rPr lang="uk-UA" dirty="0"/>
              <a:t>графічного контенту та оптимізацію роботи ігрових систем для великих ігрових світів.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Тео</Template>
  <TotalTime>78</TotalTime>
  <Words>845</Words>
  <Application>Microsoft Office PowerPoint</Application>
  <PresentationFormat>Екран (16:9)</PresentationFormat>
  <Paragraphs>70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9" baseType="lpstr">
      <vt:lpstr>Arial</vt:lpstr>
      <vt:lpstr>Open Sans</vt:lpstr>
      <vt:lpstr>Economica</vt:lpstr>
      <vt:lpstr>Times New Roman</vt:lpstr>
      <vt:lpstr>Шаблон презентації кваліфікаційної роботи магістрів</vt:lpstr>
      <vt:lpstr>Ігрове програмне забезпечення в жанрі Survival на рушії Unreal Engine 5: Системи поведінки та візуального оформлення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Інтерфейс користувача 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 Enot</dc:creator>
  <cp:lastModifiedBy>Teo Enot</cp:lastModifiedBy>
  <cp:revision>6</cp:revision>
  <dcterms:created xsi:type="dcterms:W3CDTF">2026-05-19T10:27:56Z</dcterms:created>
  <dcterms:modified xsi:type="dcterms:W3CDTF">2026-05-19T17:48:35Z</dcterms:modified>
</cp:coreProperties>
</file>